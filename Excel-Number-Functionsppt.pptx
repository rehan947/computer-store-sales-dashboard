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  <p:sldId id="266" r:id="rId15"/>
  </p:sldIdLst>
  <p:sldSz cx="9144000" cy="5143500" type="screen16x9"/>
  <p:notesSz cx="5143500" cy="9144000"/>
  <p:embeddedFontLst>
    <p:embeddedFont>
      <p:font typeface="Aptos Narrow" panose="020B0004020202020204" pitchFamily="34" charset="0"/>
      <p:regular r:id="rId17"/>
      <p:bold r:id="rId18"/>
      <p:italic r:id="rId19"/>
      <p:boldItalic r:id="rId20"/>
    </p:embeddedFont>
    <p:embeddedFont>
      <p:font typeface="Arial Black" panose="020B0A04020102020204" pitchFamily="34" charset="0"/>
      <p:bold r:id="rId21"/>
    </p:embeddedFont>
    <p:embeddedFont>
      <p:font typeface="Arial Rounded MT Bold" panose="020F0704030504030204" pitchFamily="34" charset="0"/>
      <p:regular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Fraunces ExtraBold" panose="020B0604020202020204" charset="0"/>
      <p:regular r:id="rId27"/>
    </p:embeddedFont>
    <p:embeddedFont>
      <p:font typeface="Nirmala UI" panose="020B0502040204020203" pitchFamily="34" charset="0"/>
      <p:regular r:id="rId28"/>
      <p:bold r:id="rId29"/>
    </p:embeddedFont>
    <p:embeddedFont>
      <p:font typeface="Nobile" panose="020B0604020202020204" charset="0"/>
      <p:regular r:id="rId30"/>
    </p:embeddedFont>
    <p:embeddedFont>
      <p:font typeface="Rockwell Extra Bold" panose="02060903040505020403" pitchFamily="18" charset="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53E"/>
    <a:srgbClr val="A461CA"/>
    <a:srgbClr val="002368"/>
    <a:srgbClr val="392351"/>
    <a:srgbClr val="90C387"/>
    <a:srgbClr val="3B4540"/>
    <a:srgbClr val="405449"/>
    <a:srgbClr val="79887F"/>
    <a:srgbClr val="6B4AA0"/>
    <a:srgbClr val="503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7:02:38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7:03:04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49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C959-527D-D69D-1FAD-45576DA55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B1A0E-409B-0B77-51D8-44427279B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D067C-3B3E-48FD-D8AA-1DEC2D0B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1115E-25E9-ED35-43F5-8C11A12E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9C457-CFA6-6FA7-CCAC-3B36A861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625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DDDC-F542-7B81-CBA9-0D1E088F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4FB9A-1C8A-C046-E409-064BC1DC1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ABDB5-A077-A7E4-D09E-CE1778CF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C297-9E8A-0F9B-EC95-842C44CF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E37C9-A5C1-A357-DF67-56A7362F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180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99EC-DAD5-813A-BFAE-77EAC63B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10E3-0447-A0B3-BFE4-45FA39112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1BEDA-50B9-3948-95CB-92C16DE82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0530-FE46-99E2-C8EA-4E8BF7AE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DDFE2-F0C4-12C6-FFE2-66D5D327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748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678F-FD77-DE4B-A84E-6B9143E7C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1CFDF-B6F3-64BC-174F-B794D818B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854BE-BAD7-10E6-2013-B72EF9225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42E10-F97D-0421-5860-178369E7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951D2-14CF-164A-3387-88093855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C92F1-6C3F-E9D9-4993-D17643A0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1007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9BC0-D39C-01F6-BBD8-E48061E8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444FC-3C8A-FA10-2DB0-CC076438A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3561A-23D4-28D2-A8E3-57C4CE777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7895F-9A1C-60CE-2DD7-AC7F9DB17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CA1E6-BDAC-6B31-D468-316311004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50E35-ACE3-9351-7956-9EF37ADA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BCFFF-BA83-5631-316A-D9C53DA5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1F22F-A2D0-A873-1C70-E398D0E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7586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262D-C6C6-3986-F6A1-A0E255D0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46B2B-AF76-A8B8-0F50-24C1637F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15D51-876C-C27B-C437-A9D807BF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56A48-142E-3C91-F03C-393B5CEF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0890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7C909-0FCA-C788-D1EB-B010C9FF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F0099-7FD7-3506-A829-239A9636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B412E-6F64-2EAD-2203-B7D0267D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482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3A21-31DA-3DE2-6317-488AA33B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EE0F3-EB4B-5B17-0A80-33B4A543D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39B43-503F-F160-B65E-A0229F688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B5C3D-5A3C-28A3-1988-212C210F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2B65A-C328-5D2A-2BE4-1BC30941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6178C-CFE2-9725-812D-A6EB0FC1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442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8B8F-62BC-A103-A3B9-3326149F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F7776-A563-C28D-BB00-31606E948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A207B-19C6-8C38-0BE1-C5EBBE13E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6E993-44E0-A32A-B2E9-A6BBE138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154CC-AAF3-88FF-D9A4-CC38DB1D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64ED2-6DCA-9F61-C5F4-89BAFCF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3543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23E8-24A1-82B1-80CB-0E5D578C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2FDE4-1A53-0242-E817-45AD4CF49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A444A-91E4-7C5C-7A3C-E9CEAE52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DE5E7-B3A7-163B-EBB5-FFEA00AD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89A8A-D67D-D87D-8600-FA470A0C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639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8E2FA-1B5C-CCB7-F613-576E7B2CB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D2FDF-DFE8-9657-2155-18BE3F326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DF2A-E892-B3EC-E848-28D02E24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DDD23-DB94-A74F-574F-117AAD13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585D9-3DB4-EAEC-F844-FC3C1A0D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410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9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AFEB6-F05B-237C-688C-AF07CC8D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EC1E4-6171-DEF1-9494-6D78E003E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4A30C-BD51-01A6-0803-2FB90A78A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FE2D4-4714-8084-EA18-B62643AA9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6354-F1D4-3AEB-B990-80BF600FD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94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04169"/>
            <a:ext cx="48346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206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Excel Number Functions</a:t>
            </a:r>
            <a:endParaRPr lang="en-US" sz="2750" dirty="0">
              <a:solidFill>
                <a:srgbClr val="00206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8" y="2734047"/>
            <a:ext cx="4834607" cy="32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Rockwell Extra Bold" panose="02060903040505020403" pitchFamily="18" charset="0"/>
                <a:ea typeface="Nirmala UI" panose="020B0502040204020203" pitchFamily="34" charset="0"/>
                <a:cs typeface="Nirmala UI" panose="020B0502040204020203" pitchFamily="34" charset="0"/>
              </a:rPr>
              <a:t>“ </a:t>
            </a:r>
            <a:r>
              <a:rPr lang="en-IN" sz="1600" b="1" dirty="0">
                <a:solidFill>
                  <a:srgbClr val="6B4AA0"/>
                </a:solidFill>
              </a:rPr>
              <a:t>Understanding the Power of Excel Number Functions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Rockwell Extra Bold" panose="02060903040505020403" pitchFamily="18" charset="0"/>
                <a:ea typeface="Nirmala UI" panose="020B0502040204020203" pitchFamily="34" charset="0"/>
                <a:cs typeface="Nirmala UI" panose="020B0502040204020203" pitchFamily="34" charset="0"/>
              </a:rPr>
              <a:t>”</a:t>
            </a:r>
            <a:endParaRPr lang="en-US" sz="1100" b="1" dirty="0">
              <a:solidFill>
                <a:schemeClr val="accent6">
                  <a:lumMod val="50000"/>
                </a:schemeClr>
              </a:solidFill>
              <a:latin typeface="Rockwell Extra Bold" panose="02060903040505020403" pitchFamily="18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4592" y="4041562"/>
            <a:ext cx="22206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59224-4319-F890-A96E-1A62E3D66CAA}"/>
              </a:ext>
            </a:extLst>
          </p:cNvPr>
          <p:cNvSpPr txBox="1"/>
          <p:nvPr/>
        </p:nvSpPr>
        <p:spPr>
          <a:xfrm>
            <a:off x="2016172" y="4426244"/>
            <a:ext cx="324325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n>
                  <a:solidFill>
                    <a:srgbClr val="A461CA"/>
                  </a:solidFill>
                </a:ln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PRESENTED BY </a:t>
            </a:r>
            <a:r>
              <a:rPr lang="en-US" sz="1600" b="1" dirty="0">
                <a:ln>
                  <a:solidFill>
                    <a:srgbClr val="A461CA"/>
                  </a:solidFill>
                </a:ln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rPr>
              <a:t>PATHAN REHAN</a:t>
            </a:r>
            <a:endParaRPr lang="en-IN" sz="1600" b="1" dirty="0">
              <a:ln>
                <a:solidFill>
                  <a:srgbClr val="A461CA"/>
                </a:solidFill>
              </a:ln>
              <a:solidFill>
                <a:schemeClr val="accent5">
                  <a:lumMod val="50000"/>
                </a:schemeClr>
              </a:solidFill>
              <a:effectLst>
                <a:reflection blurRad="6350" stA="55000" endA="300" endPos="45500" dir="5400000" sy="-100000" algn="bl" rotWithShape="0"/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291F85-711B-ABE3-223C-B9BBE5E0D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F22A05-B89E-3D26-AAAD-F94862893F82}"/>
              </a:ext>
            </a:extLst>
          </p:cNvPr>
          <p:cNvGrpSpPr/>
          <p:nvPr/>
        </p:nvGrpSpPr>
        <p:grpSpPr>
          <a:xfrm>
            <a:off x="329311" y="1178021"/>
            <a:ext cx="8814689" cy="3571338"/>
            <a:chOff x="470179" y="1078483"/>
            <a:chExt cx="8814689" cy="3571338"/>
          </a:xfrm>
        </p:grpSpPr>
        <p:sp>
          <p:nvSpPr>
            <p:cNvPr id="2" name="Text 0"/>
            <p:cNvSpPr/>
            <p:nvPr/>
          </p:nvSpPr>
          <p:spPr>
            <a:xfrm>
              <a:off x="791914" y="1806305"/>
              <a:ext cx="7560171" cy="422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endParaRPr lang="en-US" sz="2650" dirty="0">
                <a:solidFill>
                  <a:srgbClr val="002060"/>
                </a:solidFill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496119" y="1078483"/>
              <a:ext cx="8608963" cy="2111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0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</a:t>
              </a:r>
              <a:endParaRPr lang="en-US" sz="1050" dirty="0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179" y="1472120"/>
              <a:ext cx="4691966" cy="3177701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5764785" y="1472120"/>
              <a:ext cx="3512493" cy="2533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b="1" dirty="0"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Number Functions Categories</a:t>
              </a:r>
              <a:endParaRPr lang="en-US" sz="1600" b="1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5764785" y="1854236"/>
              <a:ext cx="3520083" cy="215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100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ea typeface="Nobile" pitchFamily="34" charset="-122"/>
                  <a:cs typeface="Arial" panose="020B0604020202020204" pitchFamily="34" charset="0"/>
                </a:rPr>
                <a:t>✔ Basic Calculation Functions</a:t>
              </a:r>
              <a:endParaRPr lang="en-US" sz="11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5764785" y="2185974"/>
              <a:ext cx="3520083" cy="2111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ct val="130000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Perform mathematical calculations.</a:t>
              </a:r>
              <a:endParaRPr lang="en-US" sz="10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764785" y="2512950"/>
              <a:ext cx="3520083" cy="215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100" b="1" dirty="0">
                  <a:solidFill>
                    <a:srgbClr val="002060"/>
                  </a:solidFill>
                  <a:latin typeface="Arial" panose="020B0604020202020204" pitchFamily="34" charset="0"/>
                  <a:ea typeface="Nobile" pitchFamily="34" charset="-122"/>
                  <a:cs typeface="Arial" panose="020B0604020202020204" pitchFamily="34" charset="0"/>
                </a:rPr>
                <a:t>✔ Conditional Functions</a:t>
              </a:r>
              <a:endParaRPr lang="en-US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5764785" y="2844688"/>
              <a:ext cx="3062883" cy="422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342900" indent="-342900" algn="l">
                <a:lnSpc>
                  <a:spcPct val="130000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Calculate results based on specific conditions.</a:t>
              </a:r>
              <a:endParaRPr lang="en-US" sz="10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764785" y="3382776"/>
              <a:ext cx="3520083" cy="215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1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ea typeface="Nobile" pitchFamily="34" charset="-122"/>
                  <a:cs typeface="Arial" panose="020B0604020202020204" pitchFamily="34" charset="0"/>
                </a:rPr>
                <a:t>✔ Counting Functions</a:t>
              </a:r>
              <a:endParaRPr lang="en-US" sz="11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5764785" y="3714514"/>
              <a:ext cx="3520083" cy="2111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ct val="130000"/>
                </a:lnSpc>
                <a:buSzPct val="100000"/>
                <a:buChar char="•"/>
              </a:pPr>
              <a:r>
                <a:rPr lang="en-US" sz="10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Count records, values, and empty cells.</a:t>
              </a:r>
              <a:endParaRPr lang="en-US" sz="105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1AE1CC-DF47-DA8F-4E34-7E326D802A7B}"/>
                </a:ext>
              </a:extLst>
            </p:cNvPr>
            <p:cNvSpPr txBox="1"/>
            <p:nvPr/>
          </p:nvSpPr>
          <p:spPr>
            <a:xfrm>
              <a:off x="5324520" y="1443749"/>
              <a:ext cx="4402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kern="1200" dirty="0">
                  <a:solidFill>
                    <a:srgbClr val="C00000"/>
                  </a:solidFill>
                  <a:effectLst/>
                  <a:latin typeface="Nobile" panose="020B0604020202020204" charset="0"/>
                  <a:ea typeface="Nobile" panose="020B0604020202020204" charset="0"/>
                  <a:cs typeface="Arial" panose="020B0604020202020204" pitchFamily="34" charset="0"/>
                </a:rPr>
                <a:t>✅</a:t>
              </a:r>
              <a:endParaRPr lang="en-IN" sz="1400" dirty="0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500FAD-295D-2E14-99A2-215E4732F89B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4000"/>
              </a:lnSpc>
            </a:pPr>
            <a:r>
              <a:rPr lang="en-US" b="1" dirty="0">
                <a:ln w="0">
                  <a:noFill/>
                </a:ln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Classification of Excel Number Functions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4BA223-12C9-AC93-B949-B05D735D6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7122" y="444029"/>
            <a:ext cx="1967136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128638" y="3031592"/>
            <a:ext cx="3183582" cy="35942"/>
          </a:xfrm>
          <a:prstGeom prst="roundRect">
            <a:avLst>
              <a:gd name="adj" fmla="val 288429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28617" y="2346070"/>
            <a:ext cx="2943579" cy="549541"/>
          </a:xfrm>
          <a:prstGeom prst="roundRect">
            <a:avLst>
              <a:gd name="adj" fmla="val 2105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5128617" y="3013621"/>
            <a:ext cx="3421931" cy="14362"/>
          </a:xfrm>
          <a:prstGeom prst="roundRect">
            <a:avLst>
              <a:gd name="adj" fmla="val 721816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128617" y="3161928"/>
            <a:ext cx="253394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AVERAGE() — </a:t>
            </a:r>
            <a:r>
              <a:rPr lang="en-US" sz="1100" b="1" dirty="0">
                <a:solidFill>
                  <a:srgbClr val="00153E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Find the Mean</a:t>
            </a:r>
            <a:endParaRPr lang="en-US" sz="1100" b="1" dirty="0">
              <a:solidFill>
                <a:srgbClr val="00153E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128617" y="3435400"/>
            <a:ext cx="3421931" cy="80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650"/>
              </a:spcAft>
            </a:pPr>
            <a:r>
              <a:rPr lang="en-U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arithmetic mean of values in a selected range.</a:t>
            </a:r>
          </a:p>
          <a:p>
            <a:pPr>
              <a:lnSpc>
                <a:spcPct val="121000"/>
              </a:lnSpc>
              <a:spcAft>
                <a:spcPts val="650"/>
              </a:spcAft>
            </a:pPr>
            <a:r>
              <a:rPr lang="en-US" sz="9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</a:t>
            </a:r>
            <a:r>
              <a:rPr lang="en-US" sz="9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=AVERAGE(number1, [number2], ...)</a:t>
            </a:r>
            <a:endParaRPr lang="en-US" sz="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</a:t>
            </a:r>
            <a:r>
              <a:rPr lang="en-US" sz="9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=AVERAGE(C5:C9)  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6E3798-8714-89BF-3C09-66537CDC1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39" y="3249660"/>
            <a:ext cx="3183581" cy="1737048"/>
          </a:xfrm>
          <a:prstGeom prst="rect">
            <a:avLst/>
          </a:prstGeom>
        </p:spPr>
      </p:pic>
      <p:sp>
        <p:nvSpPr>
          <p:cNvPr id="27" name="Shape 6">
            <a:extLst>
              <a:ext uri="{FF2B5EF4-FFF2-40B4-BE49-F238E27FC236}">
                <a16:creationId xmlns:a16="http://schemas.microsoft.com/office/drawing/2014/main" id="{353EC0EE-5D8A-142C-DF00-065038F96ACD}"/>
              </a:ext>
            </a:extLst>
          </p:cNvPr>
          <p:cNvSpPr/>
          <p:nvPr/>
        </p:nvSpPr>
        <p:spPr>
          <a:xfrm>
            <a:off x="5128617" y="4280194"/>
            <a:ext cx="2943579" cy="512047"/>
          </a:xfrm>
          <a:prstGeom prst="roundRect">
            <a:avLst>
              <a:gd name="adj" fmla="val 2105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0502F69-669D-D26D-F372-1AF809493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222" y="4366246"/>
            <a:ext cx="179894" cy="154445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948FDCF0-544F-563A-C101-75F55108934F}"/>
              </a:ext>
            </a:extLst>
          </p:cNvPr>
          <p:cNvSpPr/>
          <p:nvPr/>
        </p:nvSpPr>
        <p:spPr>
          <a:xfrm>
            <a:off x="5502771" y="4328155"/>
            <a:ext cx="273237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1000"/>
              </a:lnSpc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</a:t>
            </a:r>
            <a:r>
              <a:rPr lang="en-US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find the average </a:t>
            </a:r>
          </a:p>
          <a:p>
            <a:pPr>
              <a:lnSpc>
                <a:spcPct val="121000"/>
              </a:lnSpc>
            </a:pPr>
            <a:r>
              <a:rPr lang="en-IN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of products in a store.</a:t>
            </a:r>
            <a:endParaRPr lang="en-US" sz="1100" b="1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FEABA1-D21B-081A-4FD2-BED29494738E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“BASIC CALCULATION FUNCTIONS”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AFCFB-30B6-2AD0-9A5D-2C9017259620}"/>
              </a:ext>
            </a:extLst>
          </p:cNvPr>
          <p:cNvSpPr txBox="1"/>
          <p:nvPr/>
        </p:nvSpPr>
        <p:spPr>
          <a:xfrm>
            <a:off x="1247808" y="75734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SUM() &amp; AVERAGE() </a:t>
            </a: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1774F1-1F8A-C6A6-FF3C-6F92AF8953C4}"/>
              </a:ext>
            </a:extLst>
          </p:cNvPr>
          <p:cNvGrpSpPr/>
          <p:nvPr/>
        </p:nvGrpSpPr>
        <p:grpSpPr>
          <a:xfrm>
            <a:off x="979251" y="1243385"/>
            <a:ext cx="7665395" cy="1749779"/>
            <a:chOff x="979251" y="1243385"/>
            <a:chExt cx="7665395" cy="1749779"/>
          </a:xfrm>
        </p:grpSpPr>
        <p:pic>
          <p:nvPicPr>
            <p:cNvPr id="17" name="Image 0" descr="preencoded.png">
              <a:extLst>
                <a:ext uri="{FF2B5EF4-FFF2-40B4-BE49-F238E27FC236}">
                  <a16:creationId xmlns:a16="http://schemas.microsoft.com/office/drawing/2014/main" id="{6EFA9715-2445-93EF-FF4C-0E60BBA5B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9540" y="2466136"/>
              <a:ext cx="193081" cy="154445"/>
            </a:xfrm>
            <a:prstGeom prst="rect">
              <a:avLst/>
            </a:prstGeom>
          </p:spPr>
        </p:pic>
        <p:sp>
          <p:nvSpPr>
            <p:cNvPr id="6" name="Text 4"/>
            <p:cNvSpPr/>
            <p:nvPr/>
          </p:nvSpPr>
          <p:spPr>
            <a:xfrm>
              <a:off x="5128617" y="1243385"/>
              <a:ext cx="1904851" cy="1799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dirty="0">
                  <a:solidFill>
                    <a:srgbClr val="3B4540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SUM() — </a:t>
              </a:r>
              <a:r>
                <a:rPr lang="en-US" sz="1200" b="1" dirty="0">
                  <a:solidFill>
                    <a:srgbClr val="00153E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Add Values</a:t>
              </a:r>
              <a:endParaRPr lang="en-US" sz="1200" b="1" dirty="0">
                <a:solidFill>
                  <a:srgbClr val="00153E"/>
                </a:solidFill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128617" y="1516856"/>
              <a:ext cx="3516029" cy="9365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21000"/>
                </a:lnSpc>
                <a:spcAft>
                  <a:spcPts val="650"/>
                </a:spcAft>
              </a:pPr>
              <a:r>
                <a:rPr lang="en-IN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Adds all numbers in a selected range and returns the total sum</a:t>
              </a:r>
              <a:r>
                <a:rPr lang="en-IN" sz="11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  <a:p>
              <a:pPr>
                <a:lnSpc>
                  <a:spcPct val="121000"/>
                </a:lnSpc>
                <a:spcAft>
                  <a:spcPts val="650"/>
                </a:spcAft>
              </a:pPr>
              <a:r>
                <a:rPr lang="en-US" sz="900" b="1" dirty="0">
                  <a:solidFill>
                    <a:srgbClr val="00153E"/>
                  </a:solidFill>
                  <a:latin typeface="Arial" panose="020B0604020202020204" pitchFamily="34" charset="0"/>
                  <a:ea typeface="Nobile" pitchFamily="34" charset="-122"/>
                  <a:cs typeface="Arial" panose="020B0604020202020204" pitchFamily="34" charset="0"/>
                </a:rPr>
                <a:t>Syntax:</a:t>
              </a:r>
              <a:r>
                <a:rPr lang="en-US" sz="90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</a:t>
              </a:r>
              <a:r>
                <a:rPr lang="en-US" sz="900" dirty="0">
                  <a:solidFill>
                    <a:srgbClr val="405449"/>
                  </a:solidFill>
                  <a:highlight>
                    <a:srgbClr val="EDF2ED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=SUM(number1, [number2], ...)</a:t>
              </a:r>
              <a:endParaRPr lang="en-US" sz="900" dirty="0"/>
            </a:p>
            <a:p>
              <a:pPr>
                <a:lnSpc>
                  <a:spcPct val="121000"/>
                </a:lnSpc>
              </a:pPr>
              <a:r>
                <a:rPr lang="en-US" sz="900" b="1" dirty="0">
                  <a:solidFill>
                    <a:srgbClr val="00153E"/>
                  </a:solidFill>
                  <a:latin typeface="Arial" panose="020B0604020202020204" pitchFamily="34" charset="0"/>
                  <a:ea typeface="Nobile" pitchFamily="34" charset="-122"/>
                  <a:cs typeface="Arial" panose="020B0604020202020204" pitchFamily="34" charset="0"/>
                </a:rPr>
                <a:t>Example:</a:t>
              </a:r>
              <a:r>
                <a:rPr lang="en-US" sz="9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 </a:t>
              </a:r>
              <a:r>
                <a:rPr lang="en-IN" sz="900" dirty="0">
                  <a:solidFill>
                    <a:srgbClr val="405449"/>
                  </a:solidFill>
                  <a:highlight>
                    <a:srgbClr val="EDF2ED"/>
                  </a:highlight>
                  <a:latin typeface="Consolas" panose="020B0609020204030204" pitchFamily="49" charset="0"/>
                </a:rPr>
                <a:t>=SUM(C5:C9)</a:t>
              </a:r>
            </a:p>
            <a:p>
              <a:pPr>
                <a:lnSpc>
                  <a:spcPct val="121000"/>
                </a:lnSpc>
              </a:pPr>
              <a:endParaRPr lang="en-US" sz="900" dirty="0">
                <a:solidFill>
                  <a:srgbClr val="405449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443302" y="2422102"/>
              <a:ext cx="2628894" cy="3543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21000"/>
                </a:lnSpc>
              </a:pPr>
              <a:r>
                <a:rPr 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Real-World Use:</a:t>
              </a:r>
              <a:r>
                <a:rPr lang="en-US" sz="11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IN" sz="1100" b="1" dirty="0">
                  <a:solidFill>
                    <a:srgbClr val="00153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Used to calculate the total monthly sales revenue of a store.</a:t>
              </a:r>
              <a:endParaRPr lang="en-US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101493D-17B0-DD6B-DD34-7987FAFA6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8639" y="1255004"/>
              <a:ext cx="3183582" cy="1640608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F2E6B23-8C9A-570A-257D-C49375F7A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251" y="1408993"/>
              <a:ext cx="2010383" cy="1584171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55C2FBE-B39B-BF7E-88C6-E33BC6B8DCE1}"/>
              </a:ext>
            </a:extLst>
          </p:cNvPr>
          <p:cNvCxnSpPr>
            <a:cxnSpLocks/>
          </p:cNvCxnSpPr>
          <p:nvPr/>
        </p:nvCxnSpPr>
        <p:spPr>
          <a:xfrm flipH="1" flipV="1">
            <a:off x="3496564" y="3424199"/>
            <a:ext cx="1335218" cy="153109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70696EF-8816-5F84-121D-14DBB025A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25497" y="787171"/>
            <a:ext cx="19873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MIN() &amp; MAX()</a:t>
            </a:r>
            <a:endParaRPr lang="en-U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7676" y="3038921"/>
            <a:ext cx="3309565" cy="44276"/>
          </a:xfrm>
          <a:prstGeom prst="roundRect">
            <a:avLst>
              <a:gd name="adj" fmla="val 288171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59512" y="1347968"/>
            <a:ext cx="25300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MIN() — </a:t>
            </a:r>
            <a:r>
              <a:rPr lang="en-US" sz="1350" dirty="0">
                <a:solidFill>
                  <a:srgbClr val="00153E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Smallest Value</a:t>
            </a:r>
            <a:endParaRPr lang="en-US" sz="1350" dirty="0">
              <a:solidFill>
                <a:srgbClr val="00153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259512" y="1740132"/>
            <a:ext cx="3393058" cy="1138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ea typeface="Nobile" pitchFamily="34" charset="-122"/>
                <a:cs typeface="Nobile" pitchFamily="34" charset="-120"/>
              </a:rPr>
              <a:t>Returns the smallest number in a selected range.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</a:t>
            </a: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=MIN(range)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=MIN(C5:C9)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9512" y="3031586"/>
            <a:ext cx="3393058" cy="17711"/>
          </a:xfrm>
          <a:prstGeom prst="roundRect">
            <a:avLst>
              <a:gd name="adj" fmla="val 720404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59512" y="3271912"/>
            <a:ext cx="24884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MAX() — </a:t>
            </a:r>
            <a:r>
              <a:rPr lang="en-US" sz="1350" dirty="0">
                <a:solidFill>
                  <a:srgbClr val="00153E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Largest Value</a:t>
            </a:r>
            <a:endParaRPr lang="en-US" sz="1350" dirty="0">
              <a:solidFill>
                <a:srgbClr val="00153E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259512" y="3635128"/>
            <a:ext cx="3393058" cy="1066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1000"/>
              </a:spcAft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ea typeface="Nobile" pitchFamily="34" charset="-122"/>
                <a:cs typeface="Nobile" pitchFamily="34" charset="-120"/>
              </a:rPr>
              <a:t>Returns the h</a:t>
            </a:r>
            <a:r>
              <a:rPr lang="en-US" sz="1200" b="1" dirty="0"/>
              <a:t>ighest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ea typeface="Nobile" pitchFamily="34" charset="-122"/>
                <a:cs typeface="Nobile" pitchFamily="34" charset="-120"/>
              </a:rPr>
              <a:t> number in a selected range.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</a:t>
            </a: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=MAX(range)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</a:t>
            </a: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=MAX(C5:C9)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FA27F0-BA69-9C5F-7CDB-7BFBB831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76" y="1242374"/>
            <a:ext cx="3309565" cy="1690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EEB9B5-A264-F7DF-7840-190C0FF21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77" y="3220390"/>
            <a:ext cx="3309564" cy="166031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A3B426-FE05-1CCC-189F-88667F1BF6E8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“BASIC CALCULATION FUNCTIONS”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789066A-F1F5-A177-31C7-2DC060F3824C}"/>
                  </a:ext>
                </a:extLst>
              </p14:cNvPr>
              <p14:cNvContentPartPr/>
              <p14:nvPr/>
            </p14:nvContentPartPr>
            <p14:xfrm>
              <a:off x="-6580" y="667723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789066A-F1F5-A177-31C7-2DC060F382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4220" y="650083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D79252D-D640-B581-4DB1-02442C6620D0}"/>
              </a:ext>
            </a:extLst>
          </p:cNvPr>
          <p:cNvCxnSpPr>
            <a:cxnSpLocks/>
          </p:cNvCxnSpPr>
          <p:nvPr/>
        </p:nvCxnSpPr>
        <p:spPr>
          <a:xfrm flipH="1" flipV="1">
            <a:off x="3314981" y="1401451"/>
            <a:ext cx="1335218" cy="153109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7B956B-5F0B-1847-D08D-0E7BC1B25B3B}"/>
              </a:ext>
            </a:extLst>
          </p:cNvPr>
          <p:cNvCxnSpPr>
            <a:cxnSpLocks/>
          </p:cNvCxnSpPr>
          <p:nvPr/>
        </p:nvCxnSpPr>
        <p:spPr>
          <a:xfrm flipV="1">
            <a:off x="843064" y="3371297"/>
            <a:ext cx="2269792" cy="126555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D3E7615-A9A3-28B2-C68A-59CE00B929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109" y="1017810"/>
            <a:ext cx="53624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SUMIF() — Sum with One Condition</a:t>
            </a:r>
            <a:endParaRPr lang="en-US" sz="23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947690"/>
            <a:ext cx="36802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300203" y="1796657"/>
            <a:ext cx="4582716" cy="119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33000"/>
              </a:lnSpc>
            </a:pPr>
            <a:r>
              <a:rPr lang="en-IN" sz="12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“Adds values based on one condition and makes data easier to understand.”</a:t>
            </a:r>
            <a:endParaRPr lang="en-US" sz="1200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b="1" dirty="0">
              <a:solidFill>
                <a:srgbClr val="00153E"/>
              </a:solidFill>
              <a:latin typeface="Arial" panose="020B0604020202020204" pitchFamily="34" charset="0"/>
              <a:ea typeface="Nobile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b="1" dirty="0">
              <a:solidFill>
                <a:srgbClr val="00153E"/>
              </a:solidFill>
              <a:latin typeface="Arial" panose="020B0604020202020204" pitchFamily="34" charset="0"/>
              <a:ea typeface="Nobile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</a:t>
            </a: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=SUMIF(range, criteria, [</a:t>
            </a:r>
            <a:r>
              <a:rPr lang="en-US" sz="1100" dirty="0" err="1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sum_range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</a:t>
            </a: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=SUMIF(C5:C10,”Electronics”,D5:D10)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0203" y="3281735"/>
            <a:ext cx="4582716" cy="779562"/>
          </a:xfrm>
          <a:prstGeom prst="roundRect">
            <a:avLst>
              <a:gd name="adj" fmla="val 1636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962" y="3487267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6163" y="3375321"/>
            <a:ext cx="3942944" cy="531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 :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Calculating the total sales revenue for a specific product category (e.g., 'Electronics') in a retail store</a:t>
            </a:r>
            <a:endParaRPr lang="en-US" sz="1100" b="1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ECAF0-DE27-6051-00BA-D3B4C98B8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07" y="1796374"/>
            <a:ext cx="3223609" cy="244488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2EABE-4C0C-C63A-0D2C-BA402565CC5E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”Conditional Functions”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C10DF5-2B17-B515-DC32-5282FF525069}"/>
              </a:ext>
            </a:extLst>
          </p:cNvPr>
          <p:cNvCxnSpPr>
            <a:cxnSpLocks/>
          </p:cNvCxnSpPr>
          <p:nvPr/>
        </p:nvCxnSpPr>
        <p:spPr>
          <a:xfrm flipH="1" flipV="1">
            <a:off x="2310494" y="1956169"/>
            <a:ext cx="1715897" cy="195093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484F0A-7019-A01B-D38A-4568528EE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076474"/>
            <a:ext cx="79880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SUMIFS() — Sum with Multiple Conditions</a:t>
            </a:r>
            <a:endParaRPr lang="en-US" sz="23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745534" y="4276726"/>
            <a:ext cx="37652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57991" y="1859607"/>
            <a:ext cx="4552545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IN" sz="12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SUMIFS is used to add values based on multiple conditions.</a:t>
            </a:r>
          </a:p>
          <a:p>
            <a:pPr>
              <a:lnSpc>
                <a:spcPct val="133000"/>
              </a:lnSpc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</a:t>
            </a: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=SUMIFS(sum_range, criteria_range1, criteria1, [criteria_range2, criteria2],...)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 </a:t>
            </a:r>
            <a:r>
              <a:rPr lang="pt-BR" sz="1100" dirty="0">
                <a:solidFill>
                  <a:srgbClr val="405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=SUMIFS(E5:E10,C5:C10,"ELECTRONICS",D5:D10,"NORTH")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1760" y="3394397"/>
            <a:ext cx="4497735" cy="779562"/>
          </a:xfrm>
          <a:prstGeom prst="roundRect">
            <a:avLst>
              <a:gd name="adj" fmla="val 1636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519" y="3599929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18688" y="3557364"/>
            <a:ext cx="38952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Use: </a:t>
            </a:r>
            <a:r>
              <a:rPr lang="en-IN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Calculating the total sales revenue for the 'Electronics' category specifically in the 'North' region.</a:t>
            </a:r>
            <a:endParaRPr lang="en-US" sz="1100" b="1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92DA1-7A09-AC0C-E126-922275218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31" y="1865195"/>
            <a:ext cx="3445570" cy="241153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EFC41D-4E2B-8663-76FD-A4E0CB7F93FE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”Conditional Functions”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B7CE56-DF1E-2A3C-6746-D052172687F2}"/>
              </a:ext>
            </a:extLst>
          </p:cNvPr>
          <p:cNvCxnSpPr>
            <a:cxnSpLocks/>
          </p:cNvCxnSpPr>
          <p:nvPr/>
        </p:nvCxnSpPr>
        <p:spPr>
          <a:xfrm flipH="1" flipV="1">
            <a:off x="2115469" y="2026266"/>
            <a:ext cx="2100763" cy="236386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3CC6A0B-AEC4-EF9E-555B-0FFA15FCB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916409"/>
            <a:ext cx="19446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7315" y="1030144"/>
            <a:ext cx="79198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anose="020B0604020202020204" charset="0"/>
                <a:ea typeface="Fraunces ExtraBold" pitchFamily="34" charset="-122"/>
                <a:cs typeface="Fraunces ExtraBold" pitchFamily="34" charset="-120"/>
              </a:rPr>
              <a:t>AVERAGEIFS() — </a:t>
            </a:r>
            <a:r>
              <a:rPr lang="en-IN" sz="2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anose="020B0604020202020204" charset="0"/>
              </a:rPr>
              <a:t>Average with Multiple Conditions</a:t>
            </a:r>
            <a:endParaRPr lang="en-US" sz="2300" b="1" dirty="0">
              <a:solidFill>
                <a:schemeClr val="tx2">
                  <a:lumMod val="75000"/>
                  <a:lumOff val="25000"/>
                </a:schemeClr>
              </a:solidFill>
              <a:latin typeface="Fraunces ExtraBold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3393" y="2947690"/>
            <a:ext cx="37652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65850" y="1841948"/>
            <a:ext cx="4186720" cy="155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33000"/>
              </a:lnSpc>
            </a:pPr>
            <a:r>
              <a:rPr lang="en-IN" sz="13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Calculates the average (mean) of values based on multiple conditions.</a:t>
            </a:r>
          </a:p>
          <a:p>
            <a:pPr>
              <a:lnSpc>
                <a:spcPct val="133000"/>
              </a:lnSpc>
            </a:pPr>
            <a:endParaRPr lang="en-US" sz="1100" dirty="0">
              <a:solidFill>
                <a:srgbClr val="0015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12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IN" sz="1100" dirty="0">
                <a:highlight>
                  <a:srgbClr val="EDF2ED"/>
                </a:highlight>
              </a:rPr>
              <a:t>=AVERAGEIFS(average_range, criteria_range1, criteria1, [criteria_range2, criteria2], ...)</a:t>
            </a:r>
          </a:p>
          <a:p>
            <a:pPr>
              <a:lnSpc>
                <a:spcPct val="133000"/>
              </a:lnSpc>
            </a:pPr>
            <a:endParaRPr lang="en-IN" sz="1100" dirty="0">
              <a:solidFill>
                <a:srgbClr val="405449"/>
              </a:solidFill>
              <a:highlight>
                <a:srgbClr val="EDF2ED"/>
              </a:highlight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3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</a:t>
            </a:r>
            <a:r>
              <a:rPr lang="en-US" sz="12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IN" sz="1100" dirty="0">
                <a:highlight>
                  <a:srgbClr val="EDF2ED"/>
                </a:highlight>
              </a:rPr>
              <a:t>=AVERAGEIFS(E5:E10, C5:C10, "Electronics", D5:D10, "North")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26546" y="3650680"/>
            <a:ext cx="35062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1E9D13-7612-2687-C26B-9E9C7FD6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59" y="1841948"/>
            <a:ext cx="3477004" cy="2425327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1ECF4D91-D97A-2DDF-FDD6-CA029E27814E}"/>
              </a:ext>
            </a:extLst>
          </p:cNvPr>
          <p:cNvSpPr/>
          <p:nvPr/>
        </p:nvSpPr>
        <p:spPr>
          <a:xfrm>
            <a:off x="4465850" y="3488079"/>
            <a:ext cx="4497735" cy="779562"/>
          </a:xfrm>
          <a:prstGeom prst="roundRect">
            <a:avLst>
              <a:gd name="adj" fmla="val 1636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D7CF804-08B8-A2DF-67F5-D2DDE9584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838" y="3702769"/>
            <a:ext cx="177180" cy="141759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D99BA009-DFA6-36C1-C274-2D46B87A8814}"/>
              </a:ext>
            </a:extLst>
          </p:cNvPr>
          <p:cNvSpPr/>
          <p:nvPr/>
        </p:nvSpPr>
        <p:spPr>
          <a:xfrm>
            <a:off x="4932778" y="3651046"/>
            <a:ext cx="389527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Use: </a:t>
            </a:r>
            <a:r>
              <a:rPr lang="en-IN" sz="14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the average sales value for 'Electronics' specifically in the 'North' region.</a:t>
            </a:r>
            <a:endParaRPr lang="en-US" sz="1400" b="1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FCF1A8-ACED-3A18-A3BB-336BD3C2C29D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2. “Conditional Functions”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B71B18B-2985-65EE-7800-DB136D3214EB}"/>
              </a:ext>
            </a:extLst>
          </p:cNvPr>
          <p:cNvCxnSpPr>
            <a:cxnSpLocks/>
          </p:cNvCxnSpPr>
          <p:nvPr/>
        </p:nvCxnSpPr>
        <p:spPr>
          <a:xfrm flipV="1">
            <a:off x="315943" y="2027860"/>
            <a:ext cx="1785949" cy="207644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98EC6C9-9099-433C-F1FC-82E232AA2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3137" y="456754"/>
            <a:ext cx="1634282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3431" y="717392"/>
            <a:ext cx="3772160" cy="32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COUNT() &amp; COUNTA()</a:t>
            </a:r>
            <a:endParaRPr lang="en-U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65243" y="2898972"/>
            <a:ext cx="3333343" cy="45719"/>
          </a:xfrm>
          <a:prstGeom prst="roundRect">
            <a:avLst>
              <a:gd name="adj" fmla="val 288288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687120" y="1119189"/>
            <a:ext cx="26745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COUNT() — </a:t>
            </a:r>
            <a:r>
              <a:rPr lang="en-US" sz="1250" b="1" dirty="0">
                <a:solidFill>
                  <a:srgbClr val="00153E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Count Numbers</a:t>
            </a:r>
            <a:endParaRPr lang="en-US" sz="1250" b="1" dirty="0">
              <a:solidFill>
                <a:srgbClr val="00153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687120" y="1357523"/>
            <a:ext cx="4003774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IN" sz="105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number of cells in a range that contain numeric values only.</a:t>
            </a:r>
          </a:p>
          <a:p>
            <a:pPr>
              <a:lnSpc>
                <a:spcPct val="127000"/>
              </a:lnSpc>
            </a:pPr>
            <a:endParaRPr lang="en-IN" sz="1000" dirty="0"/>
          </a:p>
          <a:p>
            <a:pPr>
              <a:lnSpc>
                <a:spcPct val="127000"/>
              </a:lnSpc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 </a:t>
            </a:r>
            <a:r>
              <a:rPr lang="en-IN" sz="1000" dirty="0">
                <a:highlight>
                  <a:srgbClr val="EDF2ED"/>
                </a:highlight>
              </a:rPr>
              <a:t>=COUNT(range)</a:t>
            </a:r>
          </a:p>
          <a:p>
            <a:pPr>
              <a:lnSpc>
                <a:spcPct val="127000"/>
              </a:lnSpc>
            </a:pPr>
            <a:r>
              <a:rPr lang="en-US" sz="105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 </a:t>
            </a:r>
            <a:r>
              <a:rPr lang="en-IN" sz="1000" dirty="0">
                <a:highlight>
                  <a:srgbClr val="EDF2ED"/>
                </a:highlight>
              </a:rPr>
              <a:t>=COUNT(E5:E10)</a:t>
            </a:r>
            <a:r>
              <a:rPr lang="en-US" sz="10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48795" y="2890973"/>
            <a:ext cx="4003774" cy="15999"/>
          </a:xfrm>
          <a:prstGeom prst="roundRect">
            <a:avLst>
              <a:gd name="adj" fmla="val 722728"/>
            </a:avLst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48795" y="3064250"/>
            <a:ext cx="340905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COUNTA() — </a:t>
            </a:r>
            <a:r>
              <a:rPr lang="en-US" sz="1250" b="1" dirty="0">
                <a:solidFill>
                  <a:srgbClr val="00153E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Count Non-Empty Cells</a:t>
            </a:r>
            <a:endParaRPr lang="en-US" sz="1250" b="1" dirty="0">
              <a:solidFill>
                <a:srgbClr val="00153E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648795" y="3334495"/>
            <a:ext cx="4003774" cy="95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IN" sz="105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number of cells in a range that are not empty (contains text, numbers, or symbols). Ignores only blank cells.</a:t>
            </a:r>
          </a:p>
          <a:p>
            <a:pPr>
              <a:lnSpc>
                <a:spcPct val="127000"/>
              </a:lnSpc>
            </a:pP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Syntax: </a:t>
            </a:r>
            <a:r>
              <a:rPr lang="en-US" sz="10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=COUNTA(range)</a:t>
            </a:r>
            <a:endParaRPr lang="en-US" sz="10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0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=COUNTA(E5:E10)</a:t>
            </a:r>
            <a:endParaRPr lang="en-US" sz="10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7207D41-13ED-CEF8-F25D-4BE749F0EA00}"/>
              </a:ext>
            </a:extLst>
          </p:cNvPr>
          <p:cNvSpPr/>
          <p:nvPr/>
        </p:nvSpPr>
        <p:spPr>
          <a:xfrm>
            <a:off x="4648795" y="2249163"/>
            <a:ext cx="3370733" cy="492424"/>
          </a:xfrm>
          <a:prstGeom prst="roundRect">
            <a:avLst>
              <a:gd name="adj" fmla="val 1852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14D632CF-856F-70A6-9562-D8CB334CF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591" y="2390550"/>
            <a:ext cx="127964" cy="115119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7EB396A5-6B07-D74C-652F-BD077EB09957}"/>
              </a:ext>
            </a:extLst>
          </p:cNvPr>
          <p:cNvSpPr/>
          <p:nvPr/>
        </p:nvSpPr>
        <p:spPr>
          <a:xfrm>
            <a:off x="4984625" y="2300483"/>
            <a:ext cx="3034903" cy="49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1000"/>
              </a:lnSpc>
            </a:pPr>
            <a:r>
              <a:rPr lang="en-US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Use:</a:t>
            </a:r>
            <a:r>
              <a:rPr lang="en-US" sz="1100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1100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Counting the total number of successful sales transactions recorded in a list.</a:t>
            </a:r>
            <a:endParaRPr lang="en-US" sz="1100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248BD946-1D88-78FC-3550-E9106444D8C8}"/>
              </a:ext>
            </a:extLst>
          </p:cNvPr>
          <p:cNvSpPr/>
          <p:nvPr/>
        </p:nvSpPr>
        <p:spPr>
          <a:xfrm>
            <a:off x="4648795" y="4406755"/>
            <a:ext cx="3485852" cy="559743"/>
          </a:xfrm>
          <a:prstGeom prst="roundRect">
            <a:avLst>
              <a:gd name="adj" fmla="val 1852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A5BE6E9F-6FC1-9D98-E6B1-BD7EC6039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915" y="4564141"/>
            <a:ext cx="127964" cy="115119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089F778B-5128-009D-D358-4D637984B214}"/>
              </a:ext>
            </a:extLst>
          </p:cNvPr>
          <p:cNvSpPr/>
          <p:nvPr/>
        </p:nvSpPr>
        <p:spPr>
          <a:xfrm>
            <a:off x="5044556" y="4476305"/>
            <a:ext cx="2797063" cy="44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1000"/>
              </a:lnSpc>
            </a:pPr>
            <a:r>
              <a:rPr lang="en-US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</a:t>
            </a:r>
            <a:r>
              <a:rPr lang="en-US" sz="1100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“Use to count all completed records in a dataset”</a:t>
            </a:r>
            <a:r>
              <a:rPr lang="en-IN" sz="11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100" b="1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169852E-1C00-C8F8-19A5-B2B6277F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420" y="3071210"/>
            <a:ext cx="2772971" cy="18495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79B396-1844-A10A-26C9-B8D8C268F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420" y="1103899"/>
            <a:ext cx="2772971" cy="161706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F9A743-C4C6-2C16-ACFE-96747B23765F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3. “Counting Functions”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4F66A46-3E56-96CD-056C-2DCECF05DF16}"/>
              </a:ext>
            </a:extLst>
          </p:cNvPr>
          <p:cNvCxnSpPr>
            <a:cxnSpLocks/>
          </p:cNvCxnSpPr>
          <p:nvPr/>
        </p:nvCxnSpPr>
        <p:spPr>
          <a:xfrm flipH="1" flipV="1">
            <a:off x="2361905" y="1210489"/>
            <a:ext cx="1553746" cy="151047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8E2ABE-3E63-E6B0-8F6B-11FF6DA842BE}"/>
              </a:ext>
            </a:extLst>
          </p:cNvPr>
          <p:cNvCxnSpPr>
            <a:cxnSpLocks/>
          </p:cNvCxnSpPr>
          <p:nvPr/>
        </p:nvCxnSpPr>
        <p:spPr>
          <a:xfrm flipV="1">
            <a:off x="765243" y="3164597"/>
            <a:ext cx="1484039" cy="131170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AB9DF6B-486A-2298-BEBE-5D34E9AEA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863724"/>
            <a:ext cx="175527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7094"/>
            <a:ext cx="71084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chemeClr val="tx2">
                    <a:lumMod val="75000"/>
                    <a:lumOff val="25000"/>
                  </a:schemeClr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COUNTBLANK() — Count Empty Cells</a:t>
            </a:r>
            <a:endParaRPr lang="en-US" sz="275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648922" y="1511315"/>
            <a:ext cx="3081326" cy="122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4054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Counts cells that are empty in a range.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Syntax: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=COUNTBLANK(range)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00153E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Example: </a:t>
            </a:r>
            <a:r>
              <a:rPr lang="en-US" sz="11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=COUNTBLANK(E5:E10)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74237" y="3883253"/>
            <a:ext cx="6749369" cy="601309"/>
          </a:xfrm>
          <a:prstGeom prst="roundRect">
            <a:avLst>
              <a:gd name="adj" fmla="val 24797"/>
            </a:avLst>
          </a:prstGeom>
          <a:solidFill>
            <a:srgbClr val="90C387"/>
          </a:solidFill>
          <a:ln/>
        </p:spPr>
        <p:txBody>
          <a:bodyPr/>
          <a:lstStyle/>
          <a:p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✅</a:t>
            </a:r>
            <a:endParaRPr lang="en-IN" sz="1600" dirty="0"/>
          </a:p>
        </p:txBody>
      </p:sp>
      <p:sp>
        <p:nvSpPr>
          <p:cNvPr id="8" name="Text 5"/>
          <p:cNvSpPr/>
          <p:nvPr/>
        </p:nvSpPr>
        <p:spPr>
          <a:xfrm>
            <a:off x="1734933" y="3951458"/>
            <a:ext cx="6178427" cy="463153"/>
          </a:xfrm>
          <a:prstGeom prst="rect">
            <a:avLst/>
          </a:prstGeom>
          <a:solidFill>
            <a:srgbClr val="90C387"/>
          </a:solidFill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Note:</a:t>
            </a:r>
            <a:r>
              <a:rPr lang="en-US" sz="1200" b="1" dirty="0"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</a:t>
            </a:r>
            <a:r>
              <a:rPr lang="en-US" sz="1100" b="1" dirty="0"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COUNTBLANK is a key function for data cleaning, validation, and ensuring dataset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completeness before analysis.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3CC5AEB4-6C75-987B-CC62-14949A4792A9}"/>
              </a:ext>
            </a:extLst>
          </p:cNvPr>
          <p:cNvSpPr/>
          <p:nvPr/>
        </p:nvSpPr>
        <p:spPr>
          <a:xfrm>
            <a:off x="4648922" y="2806259"/>
            <a:ext cx="3826214" cy="691647"/>
          </a:xfrm>
          <a:prstGeom prst="roundRect">
            <a:avLst>
              <a:gd name="adj" fmla="val 1636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25645715-A6E4-17C6-1254-BB8E7CD2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680" y="3011792"/>
            <a:ext cx="177180" cy="141759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71D3D7CA-18CF-9401-797E-0B4995A3E931}"/>
              </a:ext>
            </a:extLst>
          </p:cNvPr>
          <p:cNvSpPr/>
          <p:nvPr/>
        </p:nvSpPr>
        <p:spPr>
          <a:xfrm>
            <a:off x="5109618" y="2936802"/>
            <a:ext cx="33145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US" sz="14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Use: </a:t>
            </a:r>
            <a:r>
              <a:rPr lang="en-IN" sz="14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missing data in a dataset”</a:t>
            </a:r>
            <a:r>
              <a:rPr lang="en-IN" sz="1400" b="1" dirty="0">
                <a:solidFill>
                  <a:srgbClr val="0015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b="1" dirty="0">
              <a:solidFill>
                <a:srgbClr val="00153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98A410-5550-A8FA-4C67-F33F4918D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39" y="1506577"/>
            <a:ext cx="3281103" cy="20419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A84911-131D-8334-6C65-AA03B7FE3FCF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Arial Black" panose="020B0A04020102020204" pitchFamily="34" charset="0"/>
              </a:rPr>
              <a:t>3. “Counting Functions”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CA1E92-D7A3-FFEB-4239-2F494DBCFAB3}"/>
              </a:ext>
            </a:extLst>
          </p:cNvPr>
          <p:cNvCxnSpPr>
            <a:cxnSpLocks/>
          </p:cNvCxnSpPr>
          <p:nvPr/>
        </p:nvCxnSpPr>
        <p:spPr>
          <a:xfrm flipH="1" flipV="1">
            <a:off x="2876443" y="1644814"/>
            <a:ext cx="1383357" cy="155836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C0E00E-83EA-FFE2-F297-2D6D88B62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502295"/>
            <a:ext cx="673216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endParaRPr lang="en-US" sz="2300" b="1" dirty="0">
              <a:solidFill>
                <a:schemeClr val="accent6">
                  <a:lumMod val="75000"/>
                </a:schemeClr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8330" y="1066614"/>
            <a:ext cx="7947731" cy="292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2000"/>
              </a:lnSpc>
            </a:pPr>
            <a:r>
              <a:rPr lang="en-I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"This table provides a quick overview of the most commonly used Excel Number Functions."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142" y="1605012"/>
            <a:ext cx="8222827" cy="3031382"/>
          </a:xfrm>
          <a:prstGeom prst="roundRect">
            <a:avLst>
              <a:gd name="adj" fmla="val 320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8330" y="1664841"/>
            <a:ext cx="184070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Rockwell Extra Bold" panose="02060903040505020403" pitchFamily="18" charset="0"/>
                <a:ea typeface="MS PGothic" panose="020B0600070205080204" pitchFamily="34" charset="-128"/>
                <a:cs typeface="Nobile" pitchFamily="34" charset="-120"/>
              </a:rPr>
              <a:t>Function</a:t>
            </a:r>
            <a:endParaRPr lang="en-US" sz="1050" b="1" dirty="0">
              <a:solidFill>
                <a:srgbClr val="002060"/>
              </a:solidFill>
              <a:latin typeface="Rockwell Extra Bold" panose="02060903040505020403" pitchFamily="18" charset="0"/>
              <a:ea typeface="MS P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06539" y="1664841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Rockwell Extra Bold" panose="02060903040505020403" pitchFamily="18" charset="0"/>
                <a:ea typeface="MS PGothic" panose="020B0600070205080204" pitchFamily="34" charset="-128"/>
                <a:cs typeface="Nobile" pitchFamily="34" charset="-120"/>
              </a:rPr>
              <a:t>Purpose</a:t>
            </a:r>
            <a:endParaRPr lang="en-US" sz="1050" b="1" dirty="0">
              <a:solidFill>
                <a:srgbClr val="002060"/>
              </a:solidFill>
              <a:latin typeface="Rockwell Extra Bold" panose="02060903040505020403" pitchFamily="18" charset="0"/>
              <a:ea typeface="MS P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0" y="1664841"/>
            <a:ext cx="225578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Rockwell Extra Bold" panose="02060903040505020403" pitchFamily="18" charset="0"/>
                <a:ea typeface="MS PGothic" panose="020B0600070205080204" pitchFamily="34" charset="-128"/>
                <a:cs typeface="Nobile" pitchFamily="34" charset="-120"/>
              </a:rPr>
              <a:t>Syntax</a:t>
            </a:r>
            <a:endParaRPr lang="en-US" sz="1050" b="1" dirty="0">
              <a:solidFill>
                <a:srgbClr val="002060"/>
              </a:solidFill>
              <a:latin typeface="Rockwell Extra Bold" panose="02060903040505020403" pitchFamily="18" charset="0"/>
              <a:ea typeface="MS P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5290" y="1664841"/>
            <a:ext cx="23965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Rockwell Extra Bold" panose="02060903040505020403" pitchFamily="18" charset="0"/>
                <a:ea typeface="MS PGothic" panose="020B0600070205080204" pitchFamily="34" charset="-128"/>
                <a:cs typeface="Nobile" pitchFamily="34" charset="-120"/>
              </a:rPr>
              <a:t>Example</a:t>
            </a:r>
            <a:endParaRPr lang="en-US" sz="1050" b="1" dirty="0">
              <a:solidFill>
                <a:srgbClr val="002060"/>
              </a:solidFill>
              <a:latin typeface="Rockwell Extra Bold" panose="02060903040505020403" pitchFamily="18" charset="0"/>
              <a:ea typeface="MS P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8330" y="1967334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06539" y="1967334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</a:rPr>
              <a:t>Addition</a:t>
            </a:r>
          </a:p>
        </p:txBody>
      </p:sp>
      <p:sp>
        <p:nvSpPr>
          <p:cNvPr id="11" name="Text 9"/>
          <p:cNvSpPr/>
          <p:nvPr/>
        </p:nvSpPr>
        <p:spPr>
          <a:xfrm>
            <a:off x="4572000" y="1967334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=SUM(range)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05290" y="1972552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=SUM(B2:B10)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8330" y="2279352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AVERAGE()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06539" y="2279352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Average of values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2279352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=AVERAGE(range)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05290" y="2275859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=AVERAGE(B2:B10)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8330" y="2591370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MIN() / MAX()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06539" y="2591370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Smallest / largest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0" y="2591370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=MIN(range)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5290" y="2591370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=MIN(B2:B10)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8330" y="2903389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SUMIF()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06539" y="2903389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Sum with 1 condition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0" y="2903389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=SUMIF(range,crit,sum)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05286" y="2936074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=SUMIF(A2:A10,"Sales",B2:B10)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8330" y="3215407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SUMIFS()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306539" y="3215407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Sum with multiple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0" y="3215407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=SUMIFS(sum,r1,c1,...)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5290" y="3245197"/>
            <a:ext cx="2183680" cy="288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=SUMIFS(Sales,Dept,"Sales",Region,"West")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8330" y="3560708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379137" y="3560708"/>
            <a:ext cx="2415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0" y="3560708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05287" y="3557215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8330" y="3578697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306539" y="3578697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Count numbers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0" y="3578697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=COUNT(range)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05285" y="3548751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=COUNT(B2:B20)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8330" y="3890715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COUNTA()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306539" y="3890715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Count non-empty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0" y="3890715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=COUNTA(range)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628205" y="3885952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=COUNTA(A2:A20)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8330" y="4202734"/>
            <a:ext cx="18407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COUNTBLANK()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306539" y="4202734"/>
            <a:ext cx="248796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latin typeface="Aptos Narrow" panose="020B0004020202020204" pitchFamily="34" charset="0"/>
                <a:ea typeface="Nobile" pitchFamily="34" charset="-122"/>
                <a:cs typeface="Nobile" pitchFamily="34" charset="-120"/>
              </a:rPr>
              <a:t>Count empty cells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0" y="4202734"/>
            <a:ext cx="22557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>
                <a:solidFill>
                  <a:srgbClr val="00153E"/>
                </a:solidFill>
                <a:highlight>
                  <a:srgbClr val="C0C0C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=COUNTBLANK(range)</a:t>
            </a:r>
            <a:endParaRPr lang="en-US" sz="1000" b="1" dirty="0">
              <a:solidFill>
                <a:srgbClr val="00153E"/>
              </a:solidFill>
              <a:highlight>
                <a:srgbClr val="C0C0C0"/>
              </a:highlight>
              <a:latin typeface="Aptos Narrow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605290" y="4189259"/>
            <a:ext cx="23965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153E"/>
                </a:solidFill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=COUNTBLANK(A2:A20)</a:t>
            </a:r>
            <a:endParaRPr lang="en-US" sz="1000" b="1" dirty="0">
              <a:solidFill>
                <a:srgbClr val="00153E"/>
              </a:solidFill>
              <a:latin typeface="Aptos Narrow" panose="020B000402020202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5D238BF-2B90-725A-DEF1-5353B18C8C55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4000"/>
              </a:lnSpc>
            </a:pPr>
            <a:r>
              <a:rPr lang="en-IN" b="1" dirty="0">
                <a:solidFill>
                  <a:srgbClr val="00153E"/>
                </a:solidFill>
                <a:latin typeface="Arial Black" panose="020B0A04020102020204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Excel Number Functions: Quick Summary</a:t>
            </a:r>
            <a:endParaRPr lang="en-US" b="1" dirty="0">
              <a:solidFill>
                <a:srgbClr val="00153E"/>
              </a:solidFill>
              <a:latin typeface="Arial Black" panose="020B0A04020102020204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2B6ACB-51C9-409C-D146-8654735A9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1" y="101164"/>
            <a:ext cx="537860" cy="612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D9216C-EDE5-8557-D518-5832BCDC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76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96CFD-EB12-E380-5EA2-BA5097539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608"/>
            <a:ext cx="9143999" cy="431989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70FB71-B73F-A09A-FAEF-810F70137DFC}"/>
              </a:ext>
            </a:extLst>
          </p:cNvPr>
          <p:cNvSpPr/>
          <p:nvPr/>
        </p:nvSpPr>
        <p:spPr>
          <a:xfrm>
            <a:off x="1738725" y="177002"/>
            <a:ext cx="5666548" cy="38300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4000"/>
              </a:lnSpc>
            </a:pPr>
            <a:r>
              <a:rPr lang="en-IN" sz="1900" b="1" dirty="0">
                <a:solidFill>
                  <a:srgbClr val="002060"/>
                </a:solidFill>
                <a:latin typeface="Arial Black" panose="020B0A04020102020204" pitchFamily="34" charset="0"/>
              </a:rPr>
              <a:t>“Pivot Tables”</a:t>
            </a:r>
            <a:endParaRPr lang="en-US" sz="1900" b="1" dirty="0">
              <a:solidFill>
                <a:srgbClr val="002060"/>
              </a:solidFill>
              <a:latin typeface="Arial Black" panose="020B0A04020102020204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317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F5E0EF-750A-965E-EC66-EC270C789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0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56350" y="4094260"/>
            <a:ext cx="2507432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>
              <a:solidFill>
                <a:srgbClr val="00153E"/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451B8A-4FAF-CE4C-A158-66F07E25DDE2}"/>
              </a:ext>
            </a:extLst>
          </p:cNvPr>
          <p:cNvSpPr/>
          <p:nvPr/>
        </p:nvSpPr>
        <p:spPr>
          <a:xfrm>
            <a:off x="1876425" y="1905000"/>
            <a:ext cx="5391150" cy="13335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A461CA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ln>
                  <a:solidFill>
                    <a:srgbClr val="00153E"/>
                  </a:solidFill>
                </a:ln>
                <a:solidFill>
                  <a:schemeClr val="accent2">
                    <a:lumMod val="75000"/>
                  </a:schemeClr>
                </a:solidFill>
                <a:effectLst/>
                <a:latin typeface="Rockwell Extra Bold" panose="02060903040505020403" pitchFamily="18" charset="0"/>
              </a:rPr>
              <a:t>Thank You</a:t>
            </a:r>
            <a:endParaRPr lang="en-IN" sz="6000" dirty="0">
              <a:ln>
                <a:solidFill>
                  <a:srgbClr val="00153E"/>
                </a:solidFill>
              </a:ln>
              <a:solidFill>
                <a:schemeClr val="accent2">
                  <a:lumMod val="75000"/>
                </a:schemeClr>
              </a:solidFill>
              <a:effectLst/>
              <a:latin typeface="Rockwell Extra Bold" panose="02060903040505020403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1A015B-886D-B4D3-C568-D58222DE21FA}"/>
                  </a:ext>
                </a:extLst>
              </p14:cNvPr>
              <p14:cNvContentPartPr/>
              <p14:nvPr/>
            </p14:nvContentPartPr>
            <p14:xfrm>
              <a:off x="-155620" y="20080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1A015B-886D-B4D3-C568-D58222DE21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3620" y="183163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447B171-ACF5-992B-75DD-F92E658525FF}"/>
              </a:ext>
            </a:extLst>
          </p:cNvPr>
          <p:cNvSpPr txBox="1"/>
          <p:nvPr/>
        </p:nvSpPr>
        <p:spPr>
          <a:xfrm>
            <a:off x="2702667" y="3431444"/>
            <a:ext cx="3750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n>
                  <a:solidFill>
                    <a:srgbClr val="A461CA"/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Arial Rounded MT Bold" panose="020F0704030504030204" pitchFamily="34" charset="0"/>
              </a:rPr>
              <a:t> </a:t>
            </a:r>
            <a:endParaRPr lang="en-IN" sz="1800" b="1" dirty="0">
              <a:ln>
                <a:solidFill>
                  <a:srgbClr val="A461CA"/>
                </a:solidFill>
              </a:ln>
              <a:solidFill>
                <a:schemeClr val="accent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AE424-F903-1FC4-9038-4323EA1A7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1" y="101164"/>
            <a:ext cx="537860" cy="61219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</TotalTime>
  <Words>904</Words>
  <Application>Microsoft Office PowerPoint</Application>
  <PresentationFormat>On-screen Show (16:9)</PresentationFormat>
  <Paragraphs>141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Arial Rounded MT Bold</vt:lpstr>
      <vt:lpstr>Arial</vt:lpstr>
      <vt:lpstr>Aptos Narrow</vt:lpstr>
      <vt:lpstr>Consolas</vt:lpstr>
      <vt:lpstr>Aptos</vt:lpstr>
      <vt:lpstr>Aptos Display</vt:lpstr>
      <vt:lpstr>Fraunces ExtraBold</vt:lpstr>
      <vt:lpstr>Nobile</vt:lpstr>
      <vt:lpstr>Nirmala UI</vt:lpstr>
      <vt:lpstr>Rockwell Extra Bold</vt:lpstr>
      <vt:lpstr>Calibri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Rehankhan</dc:creator>
  <cp:lastModifiedBy>rehankhan1205@outlook.com</cp:lastModifiedBy>
  <cp:revision>44</cp:revision>
  <dcterms:created xsi:type="dcterms:W3CDTF">2026-06-19T21:05:41Z</dcterms:created>
  <dcterms:modified xsi:type="dcterms:W3CDTF">2026-06-24T07:36:14Z</dcterms:modified>
</cp:coreProperties>
</file>